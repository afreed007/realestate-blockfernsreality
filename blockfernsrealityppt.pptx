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6"/>
  </p:notesMasterIdLst>
  <p:handoutMasterIdLst>
    <p:handoutMasterId r:id="rId17"/>
  </p:handoutMasterIdLst>
  <p:sldIdLst>
    <p:sldId id="276" r:id="rId5"/>
    <p:sldId id="289" r:id="rId6"/>
    <p:sldId id="288" r:id="rId7"/>
    <p:sldId id="283" r:id="rId8"/>
    <p:sldId id="264" r:id="rId9"/>
    <p:sldId id="265" r:id="rId10"/>
    <p:sldId id="268" r:id="rId11"/>
    <p:sldId id="266" r:id="rId12"/>
    <p:sldId id="291" r:id="rId13"/>
    <p:sldId id="263"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E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p:scale>
          <a:sx n="79" d="100"/>
          <a:sy n="79" d="100"/>
        </p:scale>
        <p:origin x="850" y="10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8/12/2024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8/12/2024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711298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2729973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7422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18789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8/12/2024</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5" r:id="rId16"/>
    <p:sldLayoutId id="2147483686" r:id="rId17"/>
    <p:sldLayoutId id="2147483687" r:id="rId18"/>
    <p:sldLayoutId id="2147483688" r:id="rId19"/>
    <p:sldLayoutId id="2147483689" r:id="rId20"/>
    <p:sldLayoutId id="2147483691" r:id="rId2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hyperlink" Target="https://wallpapercave.com/city-portrait-wallpapers" TargetMode="External"/><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hyperlink" Target="https://www.geeksforgeeks.org/javascript/" TargetMode="External"/><Relationship Id="rId3" Type="http://schemas.openxmlformats.org/officeDocument/2006/relationships/hyperlink" Target="https://www.w3schools.com/" TargetMode="External"/><Relationship Id="rId7" Type="http://schemas.openxmlformats.org/officeDocument/2006/relationships/hyperlink" Target="https://getbootstrap.com/" TargetMode="Externa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hyperlink" Target="https://www.apachefriends.org/" TargetMode="External"/><Relationship Id="rId5" Type="http://schemas.openxmlformats.org/officeDocument/2006/relationships/hyperlink" Target="https://www.php.net/" TargetMode="External"/><Relationship Id="rId4" Type="http://schemas.openxmlformats.org/officeDocument/2006/relationships/hyperlink" Target="https://www.mysql.com/" TargetMode="External"/><Relationship Id="rId9"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4000" y="743670"/>
            <a:ext cx="9144000" cy="3950878"/>
          </a:xfrm>
          <a:noFill/>
        </p:spPr>
        <p:txBody>
          <a:bodyPr anchor="b"/>
          <a:lstStyle/>
          <a:p>
            <a:pPr algn="ctr"/>
            <a:r>
              <a:rPr lang="en-US" dirty="0"/>
              <a:t>CAMBRIDGE COLLEGE,</a:t>
            </a:r>
            <a:br>
              <a:rPr lang="en-US" dirty="0"/>
            </a:br>
            <a:r>
              <a:rPr lang="en-US" sz="1800" dirty="0"/>
              <a:t>affiliated to Bengaluru north university</a:t>
            </a:r>
            <a:br>
              <a:rPr lang="en-US" sz="1800" dirty="0"/>
            </a:br>
            <a:br>
              <a:rPr lang="en-US" sz="1800" dirty="0"/>
            </a:br>
            <a:br>
              <a:rPr lang="en-US" sz="1800" dirty="0"/>
            </a:br>
            <a:br>
              <a:rPr lang="en-US" sz="1800" dirty="0"/>
            </a:br>
            <a:r>
              <a:rPr lang="en-US" sz="2400" i="1" dirty="0">
                <a:solidFill>
                  <a:schemeClr val="tx2">
                    <a:lumMod val="90000"/>
                    <a:lumOff val="10000"/>
                  </a:schemeClr>
                </a:solidFill>
                <a:latin typeface="Walbaum Display Light (Headings)Walbaum Display Light (Headings)"/>
              </a:rPr>
              <a:t>“BLOCKFERNS REALITY” Real-estate </a:t>
            </a:r>
            <a:br>
              <a:rPr lang="en-US" sz="2400" i="1" dirty="0">
                <a:solidFill>
                  <a:schemeClr val="tx2">
                    <a:lumMod val="90000"/>
                    <a:lumOff val="10000"/>
                  </a:schemeClr>
                </a:solidFill>
                <a:latin typeface="Walbaum Display Light (Headings)Walbaum Display Light (Headings)"/>
              </a:rPr>
            </a:br>
            <a:r>
              <a:rPr lang="en-US" sz="2400" i="1" dirty="0">
                <a:solidFill>
                  <a:schemeClr val="tx2">
                    <a:lumMod val="90000"/>
                    <a:lumOff val="10000"/>
                  </a:schemeClr>
                </a:solidFill>
                <a:latin typeface="Walbaum Display Light (Headings)Walbaum Display Light (Headings)"/>
              </a:rPr>
              <a:t>Management System</a:t>
            </a:r>
            <a:br>
              <a:rPr lang="en-US" sz="2400" i="1" dirty="0">
                <a:solidFill>
                  <a:schemeClr val="tx2">
                    <a:lumMod val="90000"/>
                    <a:lumOff val="10000"/>
                  </a:schemeClr>
                </a:solidFill>
                <a:latin typeface="Walbaum Display Light (Headings)Walbaum Display Light (Headings)"/>
              </a:rPr>
            </a:br>
            <a:br>
              <a:rPr lang="en-US" sz="2400" i="1" dirty="0">
                <a:solidFill>
                  <a:schemeClr val="tx2">
                    <a:lumMod val="90000"/>
                    <a:lumOff val="10000"/>
                  </a:schemeClr>
                </a:solidFill>
                <a:latin typeface="Walbaum Display Light (Headings)Walbaum Display Light (Headings)"/>
              </a:rPr>
            </a:br>
            <a:br>
              <a:rPr lang="en-US" sz="2400" i="1" dirty="0">
                <a:solidFill>
                  <a:schemeClr val="tx2">
                    <a:lumMod val="90000"/>
                    <a:lumOff val="10000"/>
                  </a:schemeClr>
                </a:solidFill>
                <a:latin typeface="Walbaum Display Light (Headings)Walbaum Display Light (Headings)"/>
              </a:rPr>
            </a:br>
            <a:r>
              <a:rPr lang="en-US" sz="1400" i="0" dirty="0">
                <a:latin typeface="Walbaum Display Light (Headings)"/>
              </a:rPr>
              <a:t>Mohammed Afreed Pasha (U19NQ21S0028)</a:t>
            </a:r>
            <a:br>
              <a:rPr lang="en-US" sz="1400" i="0" dirty="0">
                <a:latin typeface="Walbaum Display Light (Headings)"/>
              </a:rPr>
            </a:br>
            <a:r>
              <a:rPr lang="en-US" sz="1400" i="0" dirty="0">
                <a:latin typeface="Walbaum Display Light (Headings)"/>
              </a:rPr>
              <a:t>And</a:t>
            </a:r>
            <a:br>
              <a:rPr lang="en-US" sz="1400" i="0" dirty="0">
                <a:latin typeface="Walbaum Display Light (Headings)"/>
              </a:rPr>
            </a:br>
            <a:r>
              <a:rPr lang="en-US" sz="1400" i="0" dirty="0">
                <a:latin typeface="Walbaum Display Light (Headings)"/>
              </a:rPr>
              <a:t>Syed Ibrahim (U19NQ21S0027)</a:t>
            </a:r>
            <a:br>
              <a:rPr lang="en-US" sz="2400" i="1" dirty="0">
                <a:solidFill>
                  <a:schemeClr val="tx2">
                    <a:lumMod val="90000"/>
                    <a:lumOff val="10000"/>
                  </a:schemeClr>
                </a:solidFill>
                <a:latin typeface="Walbaum Display Light (Headings)Walbaum Display Light (Headings)"/>
              </a:rPr>
            </a:br>
            <a:endParaRPr lang="en-US" sz="2400" dirty="0"/>
          </a:p>
        </p:txBody>
      </p:sp>
      <p:pic>
        <p:nvPicPr>
          <p:cNvPr id="17" name="Picture Placeholder 16" descr="A city with tall buildings">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 r="13"/>
          <a:stretch/>
        </p:blipFill>
        <p:spPr/>
      </p:pic>
    </p:spTree>
    <p:extLst>
      <p:ext uri="{BB962C8B-B14F-4D97-AF65-F5344CB8AC3E}">
        <p14:creationId xmlns:p14="http://schemas.microsoft.com/office/powerpoint/2010/main" val="821088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sp>
        <p:nvSpPr>
          <p:cNvPr id="6" name="TextBox 5">
            <a:extLst>
              <a:ext uri="{FF2B5EF4-FFF2-40B4-BE49-F238E27FC236}">
                <a16:creationId xmlns:a16="http://schemas.microsoft.com/office/drawing/2014/main" id="{80893078-1C8E-236F-73C8-F81EF3B54451}"/>
              </a:ext>
            </a:extLst>
          </p:cNvPr>
          <p:cNvSpPr txBox="1"/>
          <p:nvPr/>
        </p:nvSpPr>
        <p:spPr>
          <a:xfrm>
            <a:off x="1527140" y="989815"/>
            <a:ext cx="2262433" cy="4441729"/>
          </a:xfrm>
          <a:prstGeom prst="rect">
            <a:avLst/>
          </a:prstGeom>
          <a:noFill/>
        </p:spPr>
        <p:txBody>
          <a:bodyPr wrap="square">
            <a:spAutoFit/>
          </a:bodyPr>
          <a:lstStyle/>
          <a:p>
            <a:pPr>
              <a:lnSpc>
                <a:spcPct val="200000"/>
              </a:lnSpc>
            </a:pPr>
            <a:r>
              <a:rPr lang="en-US" dirty="0"/>
              <a:t>Synopsis</a:t>
            </a:r>
          </a:p>
          <a:p>
            <a:pPr>
              <a:lnSpc>
                <a:spcPct val="200000"/>
              </a:lnSpc>
            </a:pPr>
            <a:r>
              <a:rPr lang="en-US" dirty="0"/>
              <a:t>Introduction</a:t>
            </a:r>
          </a:p>
          <a:p>
            <a:pPr>
              <a:lnSpc>
                <a:spcPct val="200000"/>
              </a:lnSpc>
            </a:pPr>
            <a:r>
              <a:rPr lang="en-US" dirty="0"/>
              <a:t>System Analysis</a:t>
            </a:r>
          </a:p>
          <a:p>
            <a:pPr>
              <a:lnSpc>
                <a:spcPct val="200000"/>
              </a:lnSpc>
            </a:pPr>
            <a:r>
              <a:rPr lang="en-US" dirty="0"/>
              <a:t>System Requirements</a:t>
            </a:r>
          </a:p>
          <a:p>
            <a:pPr>
              <a:lnSpc>
                <a:spcPct val="200000"/>
              </a:lnSpc>
            </a:pPr>
            <a:r>
              <a:rPr lang="en-US" dirty="0"/>
              <a:t>Database Design</a:t>
            </a:r>
          </a:p>
          <a:p>
            <a:pPr>
              <a:lnSpc>
                <a:spcPct val="200000"/>
              </a:lnSpc>
            </a:pPr>
            <a:r>
              <a:rPr lang="en-US" dirty="0"/>
              <a:t>Future Enhancement</a:t>
            </a:r>
          </a:p>
          <a:p>
            <a:pPr>
              <a:lnSpc>
                <a:spcPct val="200000"/>
              </a:lnSpc>
            </a:pPr>
            <a:r>
              <a:rPr lang="en-US" dirty="0"/>
              <a:t>Conclusion</a:t>
            </a:r>
          </a:p>
          <a:p>
            <a:pPr>
              <a:lnSpc>
                <a:spcPct val="200000"/>
              </a:lnSpc>
            </a:pPr>
            <a:r>
              <a:rPr lang="en-US" dirty="0"/>
              <a:t>Bibliography</a:t>
            </a:r>
          </a:p>
        </p:txBody>
      </p:sp>
    </p:spTree>
    <p:extLst>
      <p:ext uri="{BB962C8B-B14F-4D97-AF65-F5344CB8AC3E}">
        <p14:creationId xmlns:p14="http://schemas.microsoft.com/office/powerpoint/2010/main" val="3078994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a:xfrm>
            <a:off x="0" y="-45720"/>
            <a:ext cx="2651760" cy="6903720"/>
          </a:xfrm>
        </p:spPr>
      </p:pic>
      <p:sp>
        <p:nvSpPr>
          <p:cNvPr id="5" name="Title 1">
            <a:extLst>
              <a:ext uri="{FF2B5EF4-FFF2-40B4-BE49-F238E27FC236}">
                <a16:creationId xmlns:a16="http://schemas.microsoft.com/office/drawing/2014/main" id="{072BEDDA-4C95-900F-F2B4-250DC80A03B4}"/>
              </a:ext>
            </a:extLst>
          </p:cNvPr>
          <p:cNvSpPr txBox="1">
            <a:spLocks/>
          </p:cNvSpPr>
          <p:nvPr/>
        </p:nvSpPr>
        <p:spPr>
          <a:xfrm>
            <a:off x="5836596" y="700391"/>
            <a:ext cx="3394953" cy="826852"/>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r>
              <a:rPr lang="en-US" sz="3600" b="1" dirty="0"/>
              <a:t>Synopsis</a:t>
            </a:r>
          </a:p>
        </p:txBody>
      </p:sp>
      <p:sp>
        <p:nvSpPr>
          <p:cNvPr id="3" name="TextBox 2">
            <a:extLst>
              <a:ext uri="{FF2B5EF4-FFF2-40B4-BE49-F238E27FC236}">
                <a16:creationId xmlns:a16="http://schemas.microsoft.com/office/drawing/2014/main" id="{1317870F-9FD1-2D8C-D95B-787DB2F012D9}"/>
              </a:ext>
            </a:extLst>
          </p:cNvPr>
          <p:cNvSpPr txBox="1"/>
          <p:nvPr/>
        </p:nvSpPr>
        <p:spPr>
          <a:xfrm>
            <a:off x="4562272" y="1527243"/>
            <a:ext cx="6070060" cy="5035930"/>
          </a:xfrm>
          <a:prstGeom prst="rect">
            <a:avLst/>
          </a:prstGeom>
          <a:noFill/>
        </p:spPr>
        <p:txBody>
          <a:bodyPr wrap="square" rtlCol="0">
            <a:spAutoFit/>
          </a:bodyPr>
          <a:lstStyle/>
          <a:p>
            <a:pPr>
              <a:lnSpc>
                <a:spcPct val="150000"/>
              </a:lnSpc>
            </a:pPr>
            <a:r>
              <a:rPr lang="en-US" sz="1800" dirty="0">
                <a:solidFill>
                  <a:srgbClr val="000000"/>
                </a:solidFill>
                <a:effectLst/>
                <a:highlight>
                  <a:srgbClr val="FFFFFF"/>
                </a:highlight>
                <a:latin typeface="Walbaum Display Light (Headings)"/>
                <a:ea typeface="Times New Roman" panose="02020603050405020304" pitchFamily="18" charset="0"/>
              </a:rPr>
              <a:t>Real Estate Management System Project focuses mainly on publishing and viewing properties. To be more precise, the system helps to keep track the number of sales and rental properties. Also, the system contains all the buyers, builders, and agent information where builders can sel</a:t>
            </a:r>
            <a:r>
              <a:rPr lang="en-US" dirty="0">
                <a:solidFill>
                  <a:srgbClr val="000000"/>
                </a:solidFill>
                <a:highlight>
                  <a:srgbClr val="FFFFFF"/>
                </a:highlight>
                <a:latin typeface="Walbaum Display Light (Headings)"/>
                <a:ea typeface="Times New Roman" panose="02020603050405020304" pitchFamily="18" charset="0"/>
              </a:rPr>
              <a:t>l property, agents can rent used property</a:t>
            </a:r>
            <a:r>
              <a:rPr lang="en-US" sz="1800" dirty="0">
                <a:solidFill>
                  <a:srgbClr val="000000"/>
                </a:solidFill>
                <a:effectLst/>
                <a:highlight>
                  <a:srgbClr val="FFFFFF"/>
                </a:highlight>
                <a:latin typeface="Walbaum Display Light (Headings)"/>
                <a:ea typeface="Times New Roman" panose="02020603050405020304" pitchFamily="18" charset="0"/>
              </a:rPr>
              <a:t>. Evidently, this project contains an admin panel and a simple client-side. In an overview of this web application, the user can simply register in order to use the features. Here, clients can search for the property details using the state names. As a result, the system filters out all the available properties with detailed information</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a:t>
            </a:r>
            <a:endParaRPr lang="en-US" dirty="0"/>
          </a:p>
        </p:txBody>
      </p:sp>
    </p:spTree>
    <p:extLst>
      <p:ext uri="{BB962C8B-B14F-4D97-AF65-F5344CB8AC3E}">
        <p14:creationId xmlns:p14="http://schemas.microsoft.com/office/powerpoint/2010/main" val="1038351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867710" y="1099225"/>
            <a:ext cx="3838916" cy="663401"/>
          </a:xfrm>
          <a:noFill/>
        </p:spPr>
        <p:txBody>
          <a:bodyPr>
            <a:noAutofit/>
          </a:bodyPr>
          <a:lstStyle/>
          <a:p>
            <a:r>
              <a:rPr lang="en-US" sz="3600" b="1" dirty="0"/>
              <a:t>Introduction</a:t>
            </a:r>
          </a:p>
        </p:txBody>
      </p:sp>
      <p:pic>
        <p:nvPicPr>
          <p:cNvPr id="43" name="Picture Placeholder 42" descr="A plane flying over a city">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
        <p:nvSpPr>
          <p:cNvPr id="4" name="TextBox 3">
            <a:extLst>
              <a:ext uri="{FF2B5EF4-FFF2-40B4-BE49-F238E27FC236}">
                <a16:creationId xmlns:a16="http://schemas.microsoft.com/office/drawing/2014/main" id="{CD6F5FBA-A5C1-47F0-28F3-B199159BB382}"/>
              </a:ext>
            </a:extLst>
          </p:cNvPr>
          <p:cNvSpPr txBox="1"/>
          <p:nvPr/>
        </p:nvSpPr>
        <p:spPr>
          <a:xfrm>
            <a:off x="1011677" y="1974715"/>
            <a:ext cx="6721812" cy="3791551"/>
          </a:xfrm>
          <a:prstGeom prst="rect">
            <a:avLst/>
          </a:prstGeom>
          <a:noFill/>
        </p:spPr>
        <p:txBody>
          <a:bodyPr wrap="square" rtlCol="0">
            <a:spAutoFit/>
          </a:bodyPr>
          <a:lstStyle/>
          <a:p>
            <a:pPr>
              <a:lnSpc>
                <a:spcPct val="150000"/>
              </a:lnSpc>
            </a:pPr>
            <a:r>
              <a:rPr lang="en-US" b="0" i="0" dirty="0">
                <a:solidFill>
                  <a:srgbClr val="374151"/>
                </a:solidFill>
                <a:effectLst/>
                <a:latin typeface="Walbaum Display Light (Headings)"/>
              </a:rPr>
              <a:t>The BlockFernsReality project aims to revolutionize the real</a:t>
            </a:r>
            <a:r>
              <a:rPr lang="en-US" dirty="0">
                <a:solidFill>
                  <a:srgbClr val="374151"/>
                </a:solidFill>
                <a:latin typeface="Walbaum Display Light (Headings)"/>
              </a:rPr>
              <a:t>-</a:t>
            </a:r>
            <a:r>
              <a:rPr lang="en-US" b="0" i="0" dirty="0">
                <a:solidFill>
                  <a:srgbClr val="374151"/>
                </a:solidFill>
                <a:effectLst/>
                <a:latin typeface="Walbaum Display Light (Headings)"/>
              </a:rPr>
              <a:t>estate industry. It will provide a cutting-edge online platform for property seekers. The focus is on user experience and functionality to make searching easier and faster. Advanced technology and innovative features will be leveraged. The platform will be comprehensive and intuitive for users to find their dream properties. The goal is to become a leading tool in the real estate market, trusted by users and professionals. BlockFernsReality will transform the way people search for properties online</a:t>
            </a:r>
            <a:endParaRPr lang="en-IN" dirty="0">
              <a:latin typeface="Walbaum Display Light (Headings)"/>
            </a:endParaRPr>
          </a:p>
        </p:txBody>
      </p:sp>
    </p:spTree>
    <p:extLst>
      <p:ext uri="{BB962C8B-B14F-4D97-AF65-F5344CB8AC3E}">
        <p14:creationId xmlns:p14="http://schemas.microsoft.com/office/powerpoint/2010/main" val="4242039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8E6FC4-E939-BD6E-A60F-A508FB69D12D}"/>
              </a:ext>
            </a:extLst>
          </p:cNvPr>
          <p:cNvSpPr txBox="1">
            <a:spLocks/>
          </p:cNvSpPr>
          <p:nvPr/>
        </p:nvSpPr>
        <p:spPr>
          <a:xfrm>
            <a:off x="3404681" y="272375"/>
            <a:ext cx="4221804" cy="768485"/>
          </a:xfrm>
          <a:prstGeom prst="rect">
            <a:avLst/>
          </a:prstGeom>
          <a:noFill/>
        </p:spPr>
        <p:txBody>
          <a:bodyPr vert="horz" lIns="91440" tIns="45720" rIns="91440" bIns="45720" rtlCol="0" anchor="b" anchorCtr="0">
            <a:noAutofit/>
          </a:bodyPr>
          <a:lstStyle>
            <a:lvl1pPr algn="l" defTabSz="914400" rtl="0" eaLnBrk="1" latinLnBrk="0" hangingPunct="1">
              <a:lnSpc>
                <a:spcPct val="90000"/>
              </a:lnSpc>
              <a:spcBef>
                <a:spcPct val="0"/>
              </a:spcBef>
              <a:buNone/>
              <a:defRPr sz="3600" i="1" kern="1200" cap="all" baseline="0">
                <a:solidFill>
                  <a:schemeClr val="tx2"/>
                </a:solidFill>
                <a:latin typeface="+mj-lt"/>
                <a:ea typeface="+mj-ea"/>
                <a:cs typeface="+mj-cs"/>
              </a:defRPr>
            </a:lvl1pPr>
          </a:lstStyle>
          <a:p>
            <a:pPr>
              <a:lnSpc>
                <a:spcPct val="200000"/>
              </a:lnSpc>
            </a:pPr>
            <a:r>
              <a:rPr lang="en-US" dirty="0"/>
              <a:t>System Analysis</a:t>
            </a:r>
          </a:p>
        </p:txBody>
      </p:sp>
      <p:sp>
        <p:nvSpPr>
          <p:cNvPr id="8" name="TextBox 7">
            <a:extLst>
              <a:ext uri="{FF2B5EF4-FFF2-40B4-BE49-F238E27FC236}">
                <a16:creationId xmlns:a16="http://schemas.microsoft.com/office/drawing/2014/main" id="{8EFA4508-0493-8055-FA55-86AC6BCFDDBE}"/>
              </a:ext>
            </a:extLst>
          </p:cNvPr>
          <p:cNvSpPr txBox="1"/>
          <p:nvPr/>
        </p:nvSpPr>
        <p:spPr>
          <a:xfrm>
            <a:off x="1361873" y="1215957"/>
            <a:ext cx="9406646" cy="4939814"/>
          </a:xfrm>
          <a:prstGeom prst="rect">
            <a:avLst/>
          </a:prstGeom>
          <a:noFill/>
        </p:spPr>
        <p:txBody>
          <a:bodyPr wrap="square" rtlCol="0">
            <a:spAutoFit/>
          </a:bodyPr>
          <a:lstStyle/>
          <a:p>
            <a:pPr>
              <a:lnSpc>
                <a:spcPct val="150000"/>
              </a:lnSpc>
            </a:pPr>
            <a:r>
              <a:rPr lang="en-US" b="1" u="sng" dirty="0">
                <a:latin typeface="Walbaum Display Light (Headings)"/>
              </a:rPr>
              <a:t>Existing System</a:t>
            </a:r>
            <a:r>
              <a:rPr lang="en-US" dirty="0">
                <a:latin typeface="Walbaum Display Light (Headings)"/>
              </a:rPr>
              <a:t>:- The current system lacks a centralized platform for property owners, buyers, and renters to interact and conduct transactions. This leads to several problems, including</a:t>
            </a:r>
          </a:p>
          <a:p>
            <a:pPr marL="285750" indent="-285750">
              <a:lnSpc>
                <a:spcPct val="150000"/>
              </a:lnSpc>
              <a:buFont typeface="Arial" panose="020B0604020202020204" pitchFamily="34" charset="0"/>
              <a:buChar char="•"/>
            </a:pPr>
            <a:r>
              <a:rPr lang="en-US" dirty="0">
                <a:latin typeface="Walbaum Display Light (Headings)"/>
              </a:rPr>
              <a:t> </a:t>
            </a:r>
            <a:r>
              <a:rPr lang="en-US" sz="1800" dirty="0">
                <a:effectLst/>
                <a:latin typeface="Walbaum Display Light (Headings)"/>
                <a:ea typeface="Times New Roman" panose="02020603050405020304" pitchFamily="18" charset="0"/>
              </a:rPr>
              <a:t>Inefficient Property Search </a:t>
            </a:r>
          </a:p>
          <a:p>
            <a:pPr marL="285750" indent="-285750">
              <a:lnSpc>
                <a:spcPct val="150000"/>
              </a:lnSpc>
              <a:buFont typeface="Arial" panose="020B0604020202020204" pitchFamily="34" charset="0"/>
              <a:buChar char="•"/>
            </a:pPr>
            <a:r>
              <a:rPr lang="en-US" sz="1800" dirty="0">
                <a:effectLst/>
                <a:latin typeface="Walbaum Display Light (Headings)"/>
                <a:ea typeface="Times New Roman" panose="02020603050405020304" pitchFamily="18" charset="0"/>
              </a:rPr>
              <a:t>Inefficient Property Management </a:t>
            </a:r>
          </a:p>
          <a:p>
            <a:pPr marL="285750" indent="-285750">
              <a:lnSpc>
                <a:spcPct val="150000"/>
              </a:lnSpc>
              <a:buFont typeface="Arial" panose="020B0604020202020204" pitchFamily="34" charset="0"/>
              <a:buChar char="•"/>
            </a:pPr>
            <a:r>
              <a:rPr lang="en-US" sz="1800" dirty="0">
                <a:effectLst/>
                <a:latin typeface="Walbaum Display Light (Headings)"/>
                <a:ea typeface="Times New Roman" panose="02020603050405020304" pitchFamily="18" charset="0"/>
              </a:rPr>
              <a:t>Lack of Transparency</a:t>
            </a:r>
          </a:p>
          <a:p>
            <a:pPr>
              <a:lnSpc>
                <a:spcPct val="150000"/>
              </a:lnSpc>
            </a:pPr>
            <a:endParaRPr lang="en-US" dirty="0">
              <a:latin typeface="Walbaum Display Light (Headings)"/>
            </a:endParaRPr>
          </a:p>
          <a:p>
            <a:pPr>
              <a:lnSpc>
                <a:spcPct val="150000"/>
              </a:lnSpc>
            </a:pPr>
            <a:r>
              <a:rPr lang="en-US" b="1" u="sng" dirty="0">
                <a:latin typeface="Walbaum Display Light (Headings)"/>
              </a:rPr>
              <a:t>Proposed System</a:t>
            </a:r>
            <a:r>
              <a:rPr lang="en-US" dirty="0">
                <a:latin typeface="Walbaum Display Light (Headings)"/>
              </a:rPr>
              <a:t>:- “BlockFernsReality” </a:t>
            </a:r>
            <a:r>
              <a:rPr lang="en-US" sz="1800" dirty="0">
                <a:effectLst/>
                <a:latin typeface="Walbaum Display Light (Headings)"/>
                <a:ea typeface="Times New Roman" panose="02020603050405020304" pitchFamily="18" charset="0"/>
              </a:rPr>
              <a:t>Real Estate Management System provides a centralized platform for property owners, buyers, and renters to interact and conduct face-to-</a:t>
            </a:r>
            <a:r>
              <a:rPr lang="en-US" dirty="0">
                <a:latin typeface="Walbaum Display Light (Headings)"/>
                <a:ea typeface="Times New Roman" panose="02020603050405020304" pitchFamily="18" charset="0"/>
              </a:rPr>
              <a:t>face </a:t>
            </a:r>
            <a:r>
              <a:rPr lang="en-US" sz="1800" dirty="0">
                <a:effectLst/>
                <a:latin typeface="Walbaum Display Light (Headings)"/>
                <a:ea typeface="Times New Roman" panose="02020603050405020304" pitchFamily="18" charset="0"/>
              </a:rPr>
              <a:t>transactions efficiently and securely. The system would enable users to search for properties, submit property listings, manage bookings and maintenance requests, and provide feedback about their experiences.</a:t>
            </a:r>
          </a:p>
          <a:p>
            <a:endParaRPr lang="en-US" dirty="0">
              <a:latin typeface="Walbaum Display Light (Headings)"/>
            </a:endParaRPr>
          </a:p>
        </p:txBody>
      </p:sp>
    </p:spTree>
    <p:extLst>
      <p:ext uri="{BB962C8B-B14F-4D97-AF65-F5344CB8AC3E}">
        <p14:creationId xmlns:p14="http://schemas.microsoft.com/office/powerpoint/2010/main" val="837402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12800" y="749029"/>
            <a:ext cx="7796179" cy="650851"/>
          </a:xfrm>
          <a:noFill/>
        </p:spPr>
        <p:txBody>
          <a:bodyPr/>
          <a:lstStyle/>
          <a:p>
            <a:r>
              <a:rPr lang="en-US" b="1" dirty="0"/>
              <a:t>System requirements</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sz="half" idx="14"/>
          </p:nvPr>
        </p:nvSpPr>
        <p:spPr>
          <a:xfrm>
            <a:off x="1473201" y="1913640"/>
            <a:ext cx="4126322" cy="3544479"/>
          </a:xfrm>
          <a:noFill/>
        </p:spPr>
        <p:txBody>
          <a:bodyPr>
            <a:normAutofit/>
          </a:bodyPr>
          <a:lstStyle/>
          <a:p>
            <a:pPr marL="67945" algn="just">
              <a:lnSpc>
                <a:spcPts val="1375"/>
              </a:lnSpc>
              <a:spcBef>
                <a:spcPts val="665"/>
              </a:spcBef>
              <a:spcAft>
                <a:spcPts val="0"/>
              </a:spcAft>
            </a:pPr>
            <a:endParaRPr lang="en-US" sz="2000" b="1" u="sng" dirty="0">
              <a:effectLst/>
              <a:latin typeface="Univers Condensed Light (Body)"/>
              <a:ea typeface="Times New Roman" panose="02020603050405020304" pitchFamily="18" charset="0"/>
            </a:endParaRPr>
          </a:p>
          <a:p>
            <a:pPr marL="67945" algn="just">
              <a:lnSpc>
                <a:spcPts val="1375"/>
              </a:lnSpc>
              <a:spcBef>
                <a:spcPts val="665"/>
              </a:spcBef>
              <a:spcAft>
                <a:spcPts val="0"/>
              </a:spcAft>
            </a:pPr>
            <a:r>
              <a:rPr lang="en-US" sz="2400" b="1" u="sng" dirty="0">
                <a:effectLst/>
                <a:latin typeface="Univers Condensed Light (Body)"/>
                <a:ea typeface="Times New Roman" panose="02020603050405020304" pitchFamily="18" charset="0"/>
              </a:rPr>
              <a:t>Hardware Configuration</a:t>
            </a:r>
            <a:r>
              <a:rPr lang="en-US" sz="2400" dirty="0">
                <a:effectLst/>
                <a:latin typeface="Univers Condensed Light (Body)"/>
                <a:ea typeface="Times New Roman" panose="02020603050405020304" pitchFamily="18" charset="0"/>
              </a:rPr>
              <a:t> </a:t>
            </a:r>
          </a:p>
          <a:p>
            <a:pPr marL="67945" algn="just">
              <a:lnSpc>
                <a:spcPts val="1375"/>
              </a:lnSpc>
              <a:spcBef>
                <a:spcPts val="665"/>
              </a:spcBef>
              <a:spcAft>
                <a:spcPts val="0"/>
              </a:spcAft>
            </a:pPr>
            <a:endParaRPr lang="en-IN" sz="2400" dirty="0">
              <a:effectLst/>
              <a:latin typeface="Univers Condensed Light (Body)"/>
              <a:ea typeface="Times New Roman" panose="02020603050405020304" pitchFamily="18" charset="0"/>
            </a:endParaRPr>
          </a:p>
          <a:p>
            <a:pPr marL="67945" algn="just">
              <a:spcBef>
                <a:spcPts val="665"/>
              </a:spcBef>
              <a:spcAft>
                <a:spcPts val="0"/>
              </a:spcAft>
            </a:pPr>
            <a:r>
              <a:rPr lang="en-US" sz="2000" dirty="0">
                <a:effectLst/>
                <a:latin typeface="Univers Condensed Light (Body)"/>
                <a:ea typeface="Times New Roman" panose="02020603050405020304" pitchFamily="18" charset="0"/>
              </a:rPr>
              <a:t>      1. 32/64</a:t>
            </a:r>
            <a:r>
              <a:rPr lang="en-US" sz="2000" spc="-5" dirty="0">
                <a:effectLst/>
                <a:latin typeface="Univers Condensed Light (Body)"/>
                <a:ea typeface="Times New Roman" panose="02020603050405020304" pitchFamily="18" charset="0"/>
              </a:rPr>
              <a:t> </a:t>
            </a:r>
            <a:r>
              <a:rPr lang="en-US" sz="2000" dirty="0">
                <a:effectLst/>
                <a:latin typeface="Univers Condensed Light (Body)"/>
                <a:ea typeface="Times New Roman" panose="02020603050405020304" pitchFamily="18" charset="0"/>
              </a:rPr>
              <a:t>bit</a:t>
            </a:r>
            <a:r>
              <a:rPr lang="en-US" sz="2000" spc="-5" dirty="0">
                <a:effectLst/>
                <a:latin typeface="Univers Condensed Light (Body)"/>
                <a:ea typeface="Times New Roman" panose="02020603050405020304" pitchFamily="18" charset="0"/>
              </a:rPr>
              <a:t> </a:t>
            </a:r>
            <a:r>
              <a:rPr lang="en-US" sz="2000" dirty="0">
                <a:effectLst/>
                <a:latin typeface="Univers Condensed Light (Body)"/>
                <a:ea typeface="Times New Roman" panose="02020603050405020304" pitchFamily="18" charset="0"/>
              </a:rPr>
              <a:t>operating</a:t>
            </a:r>
            <a:r>
              <a:rPr lang="en-US" sz="2000" spc="-5" dirty="0">
                <a:effectLst/>
                <a:latin typeface="Univers Condensed Light (Body)"/>
                <a:ea typeface="Times New Roman" panose="02020603050405020304" pitchFamily="18" charset="0"/>
              </a:rPr>
              <a:t> </a:t>
            </a:r>
            <a:r>
              <a:rPr lang="en-US" sz="2000" spc="-10" dirty="0">
                <a:effectLst/>
                <a:latin typeface="Univers Condensed Light (Body)"/>
                <a:ea typeface="Times New Roman" panose="02020603050405020304" pitchFamily="18" charset="0"/>
              </a:rPr>
              <a:t>system.</a:t>
            </a:r>
            <a:endParaRPr lang="en-IN" sz="2000" dirty="0">
              <a:effectLst/>
              <a:latin typeface="Univers Condensed Light (Body)"/>
              <a:ea typeface="Times New Roman" panose="02020603050405020304" pitchFamily="18" charset="0"/>
            </a:endParaRPr>
          </a:p>
          <a:p>
            <a:pPr marL="67945" algn="just">
              <a:spcBef>
                <a:spcPts val="665"/>
              </a:spcBef>
              <a:spcAft>
                <a:spcPts val="0"/>
              </a:spcAft>
            </a:pPr>
            <a:r>
              <a:rPr lang="en-US" sz="2000" dirty="0">
                <a:effectLst/>
                <a:latin typeface="Univers Condensed Light (Body)"/>
                <a:ea typeface="Times New Roman" panose="02020603050405020304" pitchFamily="18" charset="0"/>
              </a:rPr>
              <a:t>      2. 4 GB</a:t>
            </a:r>
            <a:r>
              <a:rPr lang="en-US" sz="2000" spc="-15" dirty="0">
                <a:effectLst/>
                <a:latin typeface="Univers Condensed Light (Body)"/>
                <a:ea typeface="Times New Roman" panose="02020603050405020304" pitchFamily="18" charset="0"/>
              </a:rPr>
              <a:t> </a:t>
            </a:r>
            <a:r>
              <a:rPr lang="en-US" sz="2000" dirty="0">
                <a:effectLst/>
                <a:latin typeface="Univers Condensed Light (Body)"/>
                <a:ea typeface="Times New Roman" panose="02020603050405020304" pitchFamily="18" charset="0"/>
              </a:rPr>
              <a:t>RAM or</a:t>
            </a:r>
            <a:r>
              <a:rPr lang="en-US" sz="2000" spc="5" dirty="0">
                <a:effectLst/>
                <a:latin typeface="Univers Condensed Light (Body)"/>
                <a:ea typeface="Times New Roman" panose="02020603050405020304" pitchFamily="18" charset="0"/>
              </a:rPr>
              <a:t> </a:t>
            </a:r>
            <a:r>
              <a:rPr lang="en-US" sz="2000" spc="-20" dirty="0">
                <a:effectLst/>
                <a:latin typeface="Univers Condensed Light (Body)"/>
                <a:ea typeface="Times New Roman" panose="02020603050405020304" pitchFamily="18" charset="0"/>
              </a:rPr>
              <a:t>above.</a:t>
            </a:r>
            <a:endParaRPr lang="en-IN" sz="2000" dirty="0">
              <a:effectLst/>
              <a:latin typeface="Univers Condensed Light (Body)"/>
              <a:ea typeface="Times New Roman" panose="02020603050405020304" pitchFamily="18" charset="0"/>
            </a:endParaRPr>
          </a:p>
          <a:p>
            <a:pPr marL="67945" algn="just">
              <a:spcBef>
                <a:spcPts val="665"/>
              </a:spcBef>
              <a:spcAft>
                <a:spcPts val="0"/>
              </a:spcAft>
            </a:pPr>
            <a:r>
              <a:rPr lang="en-US" sz="2000" dirty="0">
                <a:effectLst/>
                <a:latin typeface="Univers Condensed Light (Body)"/>
                <a:ea typeface="Times New Roman" panose="02020603050405020304" pitchFamily="18" charset="0"/>
              </a:rPr>
              <a:t>      3. 1024*768 Resolution monitor .</a:t>
            </a:r>
            <a:endParaRPr lang="en-IN" sz="2000" dirty="0">
              <a:effectLst/>
              <a:latin typeface="Univers Condensed Light (Body)"/>
              <a:ea typeface="Times New Roman" panose="02020603050405020304" pitchFamily="18" charset="0"/>
            </a:endParaRPr>
          </a:p>
          <a:p>
            <a:pPr marL="67945" algn="just">
              <a:spcBef>
                <a:spcPts val="665"/>
              </a:spcBef>
              <a:spcAft>
                <a:spcPts val="0"/>
              </a:spcAft>
            </a:pPr>
            <a:r>
              <a:rPr lang="en-US" sz="2000" dirty="0">
                <a:effectLst/>
                <a:latin typeface="Univers Condensed Light (Body)"/>
                <a:ea typeface="Times New Roman" panose="02020603050405020304" pitchFamily="18" charset="0"/>
              </a:rPr>
              <a:t>      4. 40 GB</a:t>
            </a:r>
            <a:r>
              <a:rPr lang="en-US" sz="2000" spc="-15" dirty="0">
                <a:effectLst/>
                <a:latin typeface="Univers Condensed Light (Body)"/>
                <a:ea typeface="Times New Roman" panose="02020603050405020304" pitchFamily="18" charset="0"/>
              </a:rPr>
              <a:t> </a:t>
            </a:r>
            <a:r>
              <a:rPr lang="en-US" sz="2000" dirty="0">
                <a:effectLst/>
                <a:latin typeface="Univers Condensed Light (Body)"/>
                <a:ea typeface="Times New Roman" panose="02020603050405020304" pitchFamily="18" charset="0"/>
              </a:rPr>
              <a:t>hard disk or</a:t>
            </a:r>
            <a:r>
              <a:rPr lang="en-US" sz="2000" spc="10" dirty="0">
                <a:effectLst/>
                <a:latin typeface="Univers Condensed Light (Body)"/>
                <a:ea typeface="Times New Roman" panose="02020603050405020304" pitchFamily="18" charset="0"/>
              </a:rPr>
              <a:t> </a:t>
            </a:r>
            <a:r>
              <a:rPr lang="en-US" sz="2000" spc="-10" dirty="0">
                <a:effectLst/>
                <a:latin typeface="Univers Condensed Light (Body)"/>
                <a:ea typeface="Times New Roman" panose="02020603050405020304" pitchFamily="18" charset="0"/>
              </a:rPr>
              <a:t>above.</a:t>
            </a:r>
            <a:endParaRPr lang="en-IN" sz="2000" dirty="0">
              <a:effectLst/>
              <a:latin typeface="Univers Condensed Light (Body)"/>
              <a:ea typeface="Times New Roman" panose="02020603050405020304" pitchFamily="18" charset="0"/>
            </a:endParaRPr>
          </a:p>
          <a:p>
            <a:pPr marL="67945" algn="just">
              <a:spcBef>
                <a:spcPts val="665"/>
              </a:spcBef>
              <a:spcAft>
                <a:spcPts val="0"/>
              </a:spcAft>
            </a:pPr>
            <a:r>
              <a:rPr lang="en-US" sz="2000" dirty="0">
                <a:effectLst/>
                <a:latin typeface="Univers Condensed Light (Body)"/>
                <a:ea typeface="Times New Roman" panose="02020603050405020304" pitchFamily="18" charset="0"/>
              </a:rPr>
              <a:t>      5. </a:t>
            </a:r>
            <a:r>
              <a:rPr lang="en-US" sz="2000" spc="-10" dirty="0">
                <a:effectLst/>
                <a:latin typeface="Univers Condensed Light (Body)"/>
                <a:ea typeface="Times New Roman" panose="02020603050405020304" pitchFamily="18" charset="0"/>
              </a:rPr>
              <a:t>Keyboard.</a:t>
            </a:r>
            <a:endParaRPr lang="en-IN" sz="2000" dirty="0">
              <a:effectLst/>
              <a:latin typeface="Univers Condensed Light (Body)"/>
              <a:ea typeface="Times New Roman" panose="02020603050405020304" pitchFamily="18" charset="0"/>
            </a:endParaRPr>
          </a:p>
          <a:p>
            <a:pPr marL="67945" algn="just">
              <a:lnSpc>
                <a:spcPts val="1375"/>
              </a:lnSpc>
              <a:spcBef>
                <a:spcPts val="665"/>
              </a:spcBef>
              <a:spcAft>
                <a:spcPts val="0"/>
              </a:spcAft>
            </a:pPr>
            <a:r>
              <a:rPr lang="en-US" sz="2000" dirty="0">
                <a:effectLst/>
                <a:latin typeface="Univers Condensed Light (Body)"/>
                <a:ea typeface="Times New Roman" panose="02020603050405020304" pitchFamily="18" charset="0"/>
              </a:rPr>
              <a:t> </a:t>
            </a:r>
            <a:endParaRPr lang="en-IN" sz="2000" dirty="0">
              <a:effectLst/>
              <a:latin typeface="Univers Condensed Light (Body)"/>
              <a:ea typeface="Times New Roman" panose="02020603050405020304" pitchFamily="18" charset="0"/>
            </a:endParaRPr>
          </a:p>
          <a:p>
            <a:endParaRPr lang="en-US" sz="2000" dirty="0"/>
          </a:p>
        </p:txBody>
      </p:sp>
      <p:sp>
        <p:nvSpPr>
          <p:cNvPr id="4" name="TextBox 3">
            <a:extLst>
              <a:ext uri="{FF2B5EF4-FFF2-40B4-BE49-F238E27FC236}">
                <a16:creationId xmlns:a16="http://schemas.microsoft.com/office/drawing/2014/main" id="{2E6746AA-4BC7-947D-0390-EBC1D15B60C1}"/>
              </a:ext>
            </a:extLst>
          </p:cNvPr>
          <p:cNvSpPr txBox="1"/>
          <p:nvPr/>
        </p:nvSpPr>
        <p:spPr>
          <a:xfrm>
            <a:off x="5599523" y="2111604"/>
            <a:ext cx="5825763" cy="3916457"/>
          </a:xfrm>
          <a:prstGeom prst="rect">
            <a:avLst/>
          </a:prstGeom>
          <a:noFill/>
        </p:spPr>
        <p:txBody>
          <a:bodyPr wrap="square" rtlCol="0">
            <a:spAutoFit/>
          </a:bodyPr>
          <a:lstStyle/>
          <a:p>
            <a:pPr marL="67945" algn="just">
              <a:lnSpc>
                <a:spcPts val="1375"/>
              </a:lnSpc>
              <a:spcBef>
                <a:spcPts val="665"/>
              </a:spcBef>
              <a:spcAft>
                <a:spcPts val="0"/>
              </a:spcAft>
            </a:pPr>
            <a:r>
              <a:rPr lang="en-US" sz="2000" b="1" u="sng" dirty="0">
                <a:effectLst/>
                <a:latin typeface="Univers Condensed Light (Body)"/>
                <a:ea typeface="Times New Roman" panose="02020603050405020304" pitchFamily="18" charset="0"/>
              </a:rPr>
              <a:t>Software Configuration</a:t>
            </a:r>
            <a:r>
              <a:rPr lang="en-US" sz="1800" b="1" u="sng" dirty="0">
                <a:effectLst/>
                <a:latin typeface="Univers Condensed Light (Body)"/>
                <a:ea typeface="Times New Roman" panose="02020603050405020304" pitchFamily="18" charset="0"/>
              </a:rPr>
              <a:t> </a:t>
            </a:r>
          </a:p>
          <a:p>
            <a:pPr marL="67945" algn="just">
              <a:lnSpc>
                <a:spcPts val="1375"/>
              </a:lnSpc>
              <a:spcBef>
                <a:spcPts val="665"/>
              </a:spcBef>
              <a:spcAft>
                <a:spcPts val="0"/>
              </a:spcAft>
            </a:pPr>
            <a:endParaRPr lang="en-IN" sz="18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1. Operating System- Windows 10 .</a:t>
            </a:r>
            <a:endParaRPr lang="en-IN" sz="18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2. Languages: PHP, HTML, JavaScript, CSS(Bootstrap).</a:t>
            </a:r>
            <a:endParaRPr lang="en-IN" sz="18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3. Database: MySQL.</a:t>
            </a:r>
            <a:endParaRPr lang="en-IN" sz="18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4. Browser: Chrome..</a:t>
            </a:r>
          </a:p>
          <a:p>
            <a:pPr marL="67945" algn="just">
              <a:spcBef>
                <a:spcPts val="665"/>
              </a:spcBef>
              <a:spcAft>
                <a:spcPts val="0"/>
              </a:spcAft>
            </a:pPr>
            <a:r>
              <a:rPr lang="en-US" dirty="0">
                <a:latin typeface="Univers Condensed Light (Body)"/>
                <a:ea typeface="Times New Roman" panose="02020603050405020304" pitchFamily="18" charset="0"/>
              </a:rPr>
              <a:t>      5. Xampp server</a:t>
            </a:r>
            <a:endParaRPr lang="en-IN" sz="1800" dirty="0">
              <a:effectLst/>
              <a:latin typeface="Univers Condensed Light (Body)"/>
              <a:ea typeface="Times New Roman" panose="02020603050405020304" pitchFamily="18" charset="0"/>
            </a:endParaRPr>
          </a:p>
          <a:p>
            <a:pPr marL="67945" algn="just">
              <a:lnSpc>
                <a:spcPts val="1375"/>
              </a:lnSpc>
              <a:spcBef>
                <a:spcPts val="665"/>
              </a:spcBef>
              <a:spcAft>
                <a:spcPts val="0"/>
              </a:spcAft>
            </a:pPr>
            <a:endParaRPr lang="en-IN" sz="1800" dirty="0">
              <a:effectLst/>
              <a:latin typeface="Univers Condensed Light (Body)"/>
              <a:ea typeface="Times New Roman" panose="02020603050405020304" pitchFamily="18" charset="0"/>
            </a:endParaRPr>
          </a:p>
          <a:p>
            <a:pPr marL="67945" algn="just">
              <a:lnSpc>
                <a:spcPts val="1375"/>
              </a:lnSpc>
              <a:spcBef>
                <a:spcPts val="665"/>
              </a:spcBef>
              <a:spcAft>
                <a:spcPts val="0"/>
              </a:spcAft>
            </a:pPr>
            <a:r>
              <a:rPr lang="en-US" sz="2000" b="1" u="sng" dirty="0">
                <a:effectLst/>
                <a:latin typeface="Univers Condensed Light (Body)"/>
                <a:ea typeface="Times New Roman" panose="02020603050405020304" pitchFamily="18" charset="0"/>
              </a:rPr>
              <a:t>Documentation Software</a:t>
            </a:r>
            <a:r>
              <a:rPr lang="en-US" sz="2000" dirty="0">
                <a:effectLst/>
                <a:latin typeface="Univers Condensed Light (Body)"/>
                <a:ea typeface="Times New Roman" panose="02020603050405020304" pitchFamily="18" charset="0"/>
              </a:rPr>
              <a:t> </a:t>
            </a:r>
          </a:p>
          <a:p>
            <a:pPr marL="67945" algn="just">
              <a:lnSpc>
                <a:spcPts val="1375"/>
              </a:lnSpc>
              <a:spcBef>
                <a:spcPts val="665"/>
              </a:spcBef>
              <a:spcAft>
                <a:spcPts val="0"/>
              </a:spcAft>
            </a:pPr>
            <a:endParaRPr lang="en-IN" sz="20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1. Word Processor - Microsoft Word. </a:t>
            </a:r>
            <a:endParaRPr lang="en-IN" sz="1800" dirty="0">
              <a:effectLst/>
              <a:latin typeface="Univers Condensed Light (Body)"/>
              <a:ea typeface="Times New Roman" panose="02020603050405020304" pitchFamily="18" charset="0"/>
            </a:endParaRPr>
          </a:p>
          <a:p>
            <a:pPr marL="67945" algn="just">
              <a:spcBef>
                <a:spcPts val="665"/>
              </a:spcBef>
              <a:spcAft>
                <a:spcPts val="0"/>
              </a:spcAft>
            </a:pPr>
            <a:r>
              <a:rPr lang="en-US" sz="1800" dirty="0">
                <a:effectLst/>
                <a:latin typeface="Univers Condensed Light (Body)"/>
                <a:ea typeface="Times New Roman" panose="02020603050405020304" pitchFamily="18" charset="0"/>
              </a:rPr>
              <a:t>      2. Operating System – Windows 10.</a:t>
            </a:r>
            <a:endParaRPr lang="en-IN" sz="1800" dirty="0">
              <a:effectLst/>
              <a:latin typeface="Univers Condensed Light (Body)"/>
              <a:ea typeface="Times New Roman" panose="02020603050405020304" pitchFamily="18" charset="0"/>
            </a:endParaRPr>
          </a:p>
        </p:txBody>
      </p:sp>
    </p:spTree>
    <p:extLst>
      <p:ext uri="{BB962C8B-B14F-4D97-AF65-F5344CB8AC3E}">
        <p14:creationId xmlns:p14="http://schemas.microsoft.com/office/powerpoint/2010/main" val="729609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0A6606-2F01-584C-524B-1337D6943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0686" y="515066"/>
            <a:ext cx="6158216" cy="5671725"/>
          </a:xfrm>
          <a:prstGeom prst="rect">
            <a:avLst/>
          </a:prstGeom>
        </p:spPr>
      </p:pic>
      <p:sp>
        <p:nvSpPr>
          <p:cNvPr id="9" name="TextBox 8">
            <a:extLst>
              <a:ext uri="{FF2B5EF4-FFF2-40B4-BE49-F238E27FC236}">
                <a16:creationId xmlns:a16="http://schemas.microsoft.com/office/drawing/2014/main" id="{589B54CF-A334-6028-6744-C382390B3921}"/>
              </a:ext>
            </a:extLst>
          </p:cNvPr>
          <p:cNvSpPr txBox="1"/>
          <p:nvPr/>
        </p:nvSpPr>
        <p:spPr>
          <a:xfrm>
            <a:off x="4756826" y="301557"/>
            <a:ext cx="2227634" cy="1200329"/>
          </a:xfrm>
          <a:prstGeom prst="rect">
            <a:avLst/>
          </a:prstGeom>
          <a:noFill/>
        </p:spPr>
        <p:txBody>
          <a:bodyPr wrap="square" rtlCol="0">
            <a:spAutoFit/>
          </a:bodyPr>
          <a:lstStyle/>
          <a:p>
            <a:r>
              <a:rPr lang="en-US" sz="3600" b="1" i="1" dirty="0">
                <a:latin typeface="Walbaum Display Light (Headings)"/>
              </a:rPr>
              <a:t>Database Design</a:t>
            </a:r>
          </a:p>
        </p:txBody>
      </p:sp>
    </p:spTree>
    <p:extLst>
      <p:ext uri="{BB962C8B-B14F-4D97-AF65-F5344CB8AC3E}">
        <p14:creationId xmlns:p14="http://schemas.microsoft.com/office/powerpoint/2010/main" val="4259977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12800" y="817123"/>
            <a:ext cx="7484894" cy="730134"/>
          </a:xfrm>
          <a:noFill/>
        </p:spPr>
        <p:txBody>
          <a:bodyPr/>
          <a:lstStyle/>
          <a:p>
            <a:pPr>
              <a:lnSpc>
                <a:spcPct val="200000"/>
              </a:lnSpc>
            </a:pPr>
            <a:r>
              <a:rPr lang="en-US" b="1" dirty="0"/>
              <a:t>Future  </a:t>
            </a:r>
            <a:r>
              <a:rPr lang="en-US" dirty="0"/>
              <a:t> </a:t>
            </a:r>
            <a:r>
              <a:rPr lang="en-US" b="1" dirty="0"/>
              <a:t>Enhancement</a:t>
            </a:r>
          </a:p>
        </p:txBody>
      </p:sp>
      <p:sp>
        <p:nvSpPr>
          <p:cNvPr id="8" name="Content Placeholder 7">
            <a:extLst>
              <a:ext uri="{FF2B5EF4-FFF2-40B4-BE49-F238E27FC236}">
                <a16:creationId xmlns:a16="http://schemas.microsoft.com/office/drawing/2014/main" id="{FEA38B26-78CA-A91E-F93C-855EB8BE6EE4}"/>
              </a:ext>
            </a:extLst>
          </p:cNvPr>
          <p:cNvSpPr>
            <a:spLocks noGrp="1"/>
          </p:cNvSpPr>
          <p:nvPr>
            <p:ph sz="half" idx="14"/>
          </p:nvPr>
        </p:nvSpPr>
        <p:spPr>
          <a:xfrm>
            <a:off x="838200" y="1987669"/>
            <a:ext cx="10579100" cy="3508459"/>
          </a:xfrm>
        </p:spPr>
        <p:txBody>
          <a:bodyPr>
            <a:normAutofit/>
          </a:bodyPr>
          <a:lstStyle/>
          <a:p>
            <a:pPr>
              <a:lnSpc>
                <a:spcPct val="150000"/>
              </a:lnSpc>
            </a:pPr>
            <a:r>
              <a:rPr lang="en-US" b="0" i="0" dirty="0">
                <a:solidFill>
                  <a:srgbClr val="374151"/>
                </a:solidFill>
                <a:effectLst/>
                <a:latin typeface="Walbaum Display Light (Headings)"/>
              </a:rPr>
              <a:t>Advanced search filters and autocomplete search bar will simplify property searches. This will make finding properties easier and more efficient. The enhancements aim to improve functionality, security, and overall user experience. The system will be fully responsive and optimized for mobile devices. This will cater to the growing mobile user base and provide a better experience. Enhancing the feedback feature will allow users to send detailed feedback to the admin. This will help improve service quality and user satisfaction. These enhancements will position the application as a leading tool in the real estate market.</a:t>
            </a:r>
            <a:endParaRPr lang="en-IN" dirty="0">
              <a:latin typeface="Walbaum Display Light (Headings)"/>
            </a:endParaRPr>
          </a:p>
        </p:txBody>
      </p:sp>
    </p:spTree>
    <p:extLst>
      <p:ext uri="{BB962C8B-B14F-4D97-AF65-F5344CB8AC3E}">
        <p14:creationId xmlns:p14="http://schemas.microsoft.com/office/powerpoint/2010/main" val="643777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80A28-9F05-2A60-94F5-9A3A4FCA1C4B}"/>
              </a:ext>
            </a:extLst>
          </p:cNvPr>
          <p:cNvSpPr>
            <a:spLocks noGrp="1"/>
          </p:cNvSpPr>
          <p:nvPr>
            <p:ph type="title"/>
          </p:nvPr>
        </p:nvSpPr>
        <p:spPr>
          <a:xfrm>
            <a:off x="5914417" y="680936"/>
            <a:ext cx="3297677" cy="856034"/>
          </a:xfrm>
        </p:spPr>
        <p:txBody>
          <a:bodyPr/>
          <a:lstStyle/>
          <a:p>
            <a:r>
              <a:rPr lang="en-US" sz="3600" b="1" dirty="0"/>
              <a:t>Conclusion</a:t>
            </a:r>
            <a:endParaRPr lang="en-IN" sz="3600" dirty="0"/>
          </a:p>
        </p:txBody>
      </p:sp>
      <p:pic>
        <p:nvPicPr>
          <p:cNvPr id="7" name="Picture Placeholder 6">
            <a:extLst>
              <a:ext uri="{FF2B5EF4-FFF2-40B4-BE49-F238E27FC236}">
                <a16:creationId xmlns:a16="http://schemas.microsoft.com/office/drawing/2014/main" id="{75C37B67-D944-8D57-989D-2E0AC91324F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859" r="15859"/>
          <a:stretch>
            <a:fillRect/>
          </a:stretch>
        </p:blipFill>
        <p:spPr>
          <a:xfrm>
            <a:off x="0" y="0"/>
            <a:ext cx="2946400" cy="6903720"/>
          </a:xfrm>
        </p:spPr>
      </p:pic>
      <p:sp>
        <p:nvSpPr>
          <p:cNvPr id="8" name="TextBox 7">
            <a:extLst>
              <a:ext uri="{FF2B5EF4-FFF2-40B4-BE49-F238E27FC236}">
                <a16:creationId xmlns:a16="http://schemas.microsoft.com/office/drawing/2014/main" id="{90863894-A7A7-4026-05F6-C68778EE2737}"/>
              </a:ext>
            </a:extLst>
          </p:cNvPr>
          <p:cNvSpPr txBox="1"/>
          <p:nvPr/>
        </p:nvSpPr>
        <p:spPr>
          <a:xfrm>
            <a:off x="4330700" y="1638300"/>
            <a:ext cx="6883400" cy="4108817"/>
          </a:xfrm>
          <a:prstGeom prst="rect">
            <a:avLst/>
          </a:prstGeom>
          <a:noFill/>
        </p:spPr>
        <p:txBody>
          <a:bodyPr wrap="square" rtlCol="0">
            <a:spAutoFit/>
          </a:bodyPr>
          <a:lstStyle/>
          <a:p>
            <a:pPr>
              <a:lnSpc>
                <a:spcPct val="150000"/>
              </a:lnSpc>
            </a:pPr>
            <a:r>
              <a:rPr lang="en-US" b="0" i="0" dirty="0">
                <a:solidFill>
                  <a:srgbClr val="374151"/>
                </a:solidFill>
                <a:effectLst/>
                <a:latin typeface="Walbaum Display Light (Headings)"/>
              </a:rPr>
              <a:t>The BlockFernsReality project is a comprehensive Real Estate Management System developed in PHP with a MySQL database. It provides a platform for buyers, sellers, and agents to interact and manage properties efficiently. The system allows users to view and publish properties, search by </a:t>
            </a:r>
            <a:r>
              <a:rPr lang="en-US" b="0" i="0" dirty="0" err="1">
                <a:solidFill>
                  <a:srgbClr val="374151"/>
                </a:solidFill>
                <a:effectLst/>
                <a:latin typeface="Walbaum Display Light (Headings)"/>
              </a:rPr>
              <a:t>state,city</a:t>
            </a:r>
            <a:r>
              <a:rPr lang="en-US" b="0" i="0" dirty="0">
                <a:solidFill>
                  <a:srgbClr val="374151"/>
                </a:solidFill>
                <a:effectLst/>
                <a:latin typeface="Walbaum Display Light (Headings)"/>
              </a:rPr>
              <a:t>, and manage their posted properties. It also features an instalment calculator, administrative dashboard, and testimonial system. The goal is to simplify the process of buying, selling, and renting properties with a user-friendly and centralized platform.</a:t>
            </a:r>
            <a:endParaRPr lang="en-IN" dirty="0">
              <a:latin typeface="Walbaum Display Light (Headings)"/>
            </a:endParaRPr>
          </a:p>
          <a:p>
            <a:endParaRPr lang="en-IN" dirty="0"/>
          </a:p>
        </p:txBody>
      </p:sp>
    </p:spTree>
    <p:extLst>
      <p:ext uri="{BB962C8B-B14F-4D97-AF65-F5344CB8AC3E}">
        <p14:creationId xmlns:p14="http://schemas.microsoft.com/office/powerpoint/2010/main" val="3734866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99226" y="365125"/>
            <a:ext cx="6384938" cy="1325563"/>
          </a:xfrm>
          <a:noFill/>
        </p:spPr>
        <p:txBody>
          <a:bodyPr/>
          <a:lstStyle/>
          <a:p>
            <a:pPr>
              <a:lnSpc>
                <a:spcPct val="200000"/>
              </a:lnSpc>
            </a:pPr>
            <a:r>
              <a:rPr lang="en-US" b="1" dirty="0"/>
              <a:t>Bibliography</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79298" y="1911975"/>
            <a:ext cx="5781261" cy="4067492"/>
          </a:xfrm>
          <a:noFill/>
        </p:spPr>
        <p:txBody>
          <a:bodyPr vert="horz" lIns="91440" tIns="45720" rIns="91440" bIns="45720" rtlCol="0" anchor="t">
            <a:normAutofit/>
          </a:bodyPr>
          <a:lstStyle/>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3"/>
              </a:rPr>
              <a:t>https://www.w3schools.com/</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4"/>
              </a:rPr>
              <a:t>https://www.mysql.com/</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5"/>
              </a:rPr>
              <a:t>https://www.php.net/</a:t>
            </a:r>
            <a:r>
              <a:rPr lang="en-US" sz="1800" dirty="0">
                <a:effectLst/>
                <a:latin typeface="Univers Condensed Light (Body)"/>
                <a:ea typeface="Times New Roman" panose="02020603050405020304" pitchFamily="18" charset="0"/>
              </a:rPr>
              <a:t> </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dirty="0">
                <a:effectLst/>
                <a:latin typeface="Univers Condensed Light (Body)"/>
                <a:ea typeface="Times New Roman" panose="02020603050405020304" pitchFamily="18" charset="0"/>
              </a:rPr>
              <a:t>https://developer.mozilla.org/en-US/docs/Web/JavaScript</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6"/>
              </a:rPr>
              <a:t>https://www.apachefriends.org/</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7"/>
              </a:rPr>
              <a:t>https://getbootstrap.com/</a:t>
            </a:r>
            <a:endParaRPr lang="en-IN" sz="1800" dirty="0">
              <a:effectLst/>
              <a:latin typeface="Univers Condensed Light (Body)"/>
              <a:ea typeface="Times New Roman" panose="02020603050405020304" pitchFamily="18" charset="0"/>
            </a:endParaRPr>
          </a:p>
          <a:p>
            <a:pPr marL="342900" marR="395605" lvl="0" indent="-342900">
              <a:lnSpc>
                <a:spcPct val="150000"/>
              </a:lnSpc>
              <a:spcAft>
                <a:spcPts val="0"/>
              </a:spcAft>
              <a:buFont typeface="Symbol" panose="05050102010706020507" pitchFamily="18" charset="2"/>
              <a:buChar char=""/>
              <a:tabLst>
                <a:tab pos="562610" algn="l"/>
                <a:tab pos="585470" algn="l"/>
              </a:tabLst>
            </a:pPr>
            <a:r>
              <a:rPr lang="en-US" sz="1800" u="sng" dirty="0">
                <a:solidFill>
                  <a:srgbClr val="0000FF"/>
                </a:solidFill>
                <a:effectLst/>
                <a:latin typeface="Univers Condensed Light (Body)"/>
                <a:ea typeface="Times New Roman" panose="02020603050405020304" pitchFamily="18" charset="0"/>
                <a:hlinkClick r:id="rId8"/>
              </a:rPr>
              <a:t>https://www.geeksforgeeks.org/javascript/</a:t>
            </a:r>
            <a:endParaRPr lang="en-IN" sz="1800" dirty="0">
              <a:effectLst/>
              <a:latin typeface="Univers Condensed Light (Body)"/>
              <a:ea typeface="Times New Roman" panose="02020603050405020304" pitchFamily="18" charset="0"/>
            </a:endParaRPr>
          </a:p>
          <a:p>
            <a:endParaRPr lang="en-US" dirty="0">
              <a:latin typeface="Univers Condensed Light (Body)"/>
            </a:endParaRPr>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9">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737241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a:t>THANK YOU</a:t>
            </a:r>
          </a:p>
        </p:txBody>
      </p:sp>
    </p:spTree>
    <p:extLst>
      <p:ext uri="{BB962C8B-B14F-4D97-AF65-F5344CB8AC3E}">
        <p14:creationId xmlns:p14="http://schemas.microsoft.com/office/powerpoint/2010/main" val="1210802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 lines design</Template>
  <TotalTime>203</TotalTime>
  <Words>753</Words>
  <Application>Microsoft Office PowerPoint</Application>
  <PresentationFormat>Widescreen</PresentationFormat>
  <Paragraphs>66</Paragraphs>
  <Slides>11</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Aptos</vt:lpstr>
      <vt:lpstr>Arial</vt:lpstr>
      <vt:lpstr>Calibri</vt:lpstr>
      <vt:lpstr>Symbol</vt:lpstr>
      <vt:lpstr>Times New Roman</vt:lpstr>
      <vt:lpstr>Univers Condensed Light</vt:lpstr>
      <vt:lpstr>Univers Condensed Light (Body)</vt:lpstr>
      <vt:lpstr>Walbaum Display Light</vt:lpstr>
      <vt:lpstr>Walbaum Display Light (Headings)</vt:lpstr>
      <vt:lpstr>Walbaum Display Light (Headings)Walbaum Display Light (Headings)</vt:lpstr>
      <vt:lpstr>AngleLinesVTI</vt:lpstr>
      <vt:lpstr>CAMBRIDGE COLLEGE, affiliated to Bengaluru north university    “BLOCKFERNS REALITY” Real-estate  Management System   Mohammed Afreed Pasha (U19NQ21S0028) And Syed Ibrahim (U19NQ21S0027) </vt:lpstr>
      <vt:lpstr>PowerPoint Presentation</vt:lpstr>
      <vt:lpstr>PowerPoint Presentation</vt:lpstr>
      <vt:lpstr>Introduction</vt:lpstr>
      <vt:lpstr>PowerPoint Presentation</vt:lpstr>
      <vt:lpstr>System requirements</vt:lpstr>
      <vt:lpstr>PowerPoint Presentation</vt:lpstr>
      <vt:lpstr>Future   Enhancement</vt:lpstr>
      <vt:lpstr>Conclusion</vt:lpstr>
      <vt:lpstr>Bibliography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afreed pasha</dc:creator>
  <cp:lastModifiedBy>afreed pasha</cp:lastModifiedBy>
  <cp:revision>8</cp:revision>
  <dcterms:created xsi:type="dcterms:W3CDTF">2024-08-11T06:35:22Z</dcterms:created>
  <dcterms:modified xsi:type="dcterms:W3CDTF">2024-08-12T15:49:15Z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